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70" r:id="rId3"/>
    <p:sldId id="257" r:id="rId4"/>
    <p:sldId id="268" r:id="rId5"/>
    <p:sldId id="271" r:id="rId6"/>
    <p:sldId id="275" r:id="rId7"/>
    <p:sldId id="269" r:id="rId8"/>
    <p:sldId id="273" r:id="rId9"/>
    <p:sldId id="259" r:id="rId10"/>
    <p:sldId id="263" r:id="rId11"/>
    <p:sldId id="266" r:id="rId12"/>
    <p:sldId id="274" r:id="rId13"/>
    <p:sldId id="260" r:id="rId14"/>
    <p:sldId id="264" r:id="rId15"/>
    <p:sldId id="262" r:id="rId16"/>
    <p:sldId id="265" r:id="rId17"/>
    <p:sldId id="267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CFCC079-2173-4C44-B6B9-DD241E3E9D77}">
          <p14:sldIdLst>
            <p14:sldId id="272"/>
            <p14:sldId id="270"/>
            <p14:sldId id="257"/>
            <p14:sldId id="268"/>
            <p14:sldId id="271"/>
            <p14:sldId id="275"/>
            <p14:sldId id="269"/>
            <p14:sldId id="273"/>
            <p14:sldId id="259"/>
            <p14:sldId id="263"/>
            <p14:sldId id="266"/>
            <p14:sldId id="274"/>
            <p14:sldId id="260"/>
            <p14:sldId id="264"/>
            <p14:sldId id="262"/>
            <p14:sldId id="265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12121"/>
    <a:srgbClr val="DFDFDF"/>
    <a:srgbClr val="EE0000"/>
    <a:srgbClr val="328EC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16"/>
  </p:normalViewPr>
  <p:slideViewPr>
    <p:cSldViewPr snapToGrid="0">
      <p:cViewPr>
        <p:scale>
          <a:sx n="85" d="100"/>
          <a:sy n="85" d="100"/>
        </p:scale>
        <p:origin x="48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6863A-5EAC-5441-865F-F0A8FC71955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741E3-F435-B44B-A67B-58941E59FD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27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741E3-F435-B44B-A67B-58941E59FDC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9912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741E3-F435-B44B-A67B-58941E59FDC4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0365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4FACD7-B74F-4351-E385-B335CEFC0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1447AD-D486-F5E2-0D07-908DC3241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EDCF9-F02B-9615-E6B5-24ECDBAD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F2C8E6-DFED-3D4D-03B1-8137BEDB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75766D-EBFF-5449-F6FE-C1D082DA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909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A7BCF9-2B2C-48CE-B606-4BC1776D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B283A3-5A71-4530-CA2A-52E5B2FDB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93D72F-7D2F-6774-2254-F25A6E6F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7AF040-E5D9-3307-658A-14CE506AC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62A900-4ECE-15D9-E11A-B627CB48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884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FAAFD-5EA7-3D56-BEAC-4F346587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672042-EEAF-F497-20A2-506F221EA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6F66FD-39E5-A3EB-855D-27CFCBF3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2D679D-3053-7DCB-CD84-8D5706CE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9B390C-FABA-4FDC-0373-F77922A2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08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853C81-E0FC-9559-DF3E-BF4035CB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0F379D-4A47-0D74-E5AA-9D7C6EC16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AB4688-DF22-4CA6-B57D-7F7E209DB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4B869A-D4C8-278A-0682-5E65835BA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DA419D-A4A4-BA8F-3009-5E5A8116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28758E-A64F-D714-E7E5-1ABD6A7B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7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997E64-8845-5DC4-5307-D49CBAE1A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C2B28C-F7C5-D3AC-A148-71F87C307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39EA06-4159-3208-6CAF-E6FFBF74D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EAA26CC-6EA8-8146-2C23-82162E648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0953E0B-C536-64F5-8394-719DDE391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5FFA17-013A-AB66-1BB5-31C607FF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1B33D9-2FA0-D3A1-1B00-023C9521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F4FA9E-1308-98B6-56D5-A238E39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558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51E2E-BA91-60AD-61E6-A4AB5FAE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32C86B-D352-5E12-C049-DA0CFA67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A143BC-0030-1F62-2C16-EE2F1EED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C83A17-0CD6-B390-BBCC-0469944D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711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25A0526-DC71-E6A0-3A41-3792DE31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CB0F99B-39D3-FA19-F717-4344A32D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810E24-068D-D31A-AF3A-6731B2C2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1937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E66E6E-4A18-1B53-BD2C-8222151F6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6459B6-571B-EB9C-6F70-713F04864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03CF00-77BC-3A5A-6E56-8D5B78AFC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84307D-B5D7-1096-69BF-1C0A08CF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93A2CE-8238-56BE-5BBB-10252A10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ECB988-8FFD-F53E-768C-C24F020E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44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B63DFE-E541-EE47-6DC5-2B7A6457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D2D2FAF-7250-DA6F-81EB-EC2C78F8D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A4291C-D0D4-862F-085B-0030BF514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2E671A-0C64-2556-5141-EF1EA26A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2AF82C-D7FD-A6E3-2AC4-7D397F57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DF81BC-DAD0-2A4E-FDB5-84BD8DB0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398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2AE7E-4FB9-8E48-2220-781D1671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B5E6DD-4EF8-6E20-2639-C7A8F3973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5B1296-5989-8326-CBD3-A055D9B3D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F143A4-7719-069B-4163-F66EA3993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DADBDA-CE6C-5F56-8C69-70955C0F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76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DFD69C0-1F57-F1FB-1333-E377842B27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F07773-5963-20AF-22EF-CC561C51C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24C6E2-E9E6-1E14-A265-AC9A9159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B29AA3-C13A-A654-E9EA-E24A117F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4227EB-C1F0-D511-C048-8334082C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51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A7E273E-9FBA-6CFD-D7A7-3D075E7D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EB8B36-53B3-8FFF-128E-DCD5BDA7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5181EA-D65D-D4B8-2CE7-B8563CC5D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29239-D649-7A4C-B1A3-90A0A9C38033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A5FE93-0368-2A8D-A248-BD29707E6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D2C49D-1574-1FF0-357E-8EA1C6170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10E82-342F-0A4D-8D44-80A1952154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361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3B2FF-EBCA-470D-E9B6-46EC41DD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21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97C61-5C5E-0484-F3F1-DEA8DC351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7B33507-C10A-0944-B373-F756D2C587A5}"/>
              </a:ext>
            </a:extLst>
          </p:cNvPr>
          <p:cNvSpPr/>
          <p:nvPr/>
        </p:nvSpPr>
        <p:spPr>
          <a:xfrm>
            <a:off x="176463" y="180473"/>
            <a:ext cx="11839073" cy="6497053"/>
          </a:xfrm>
          <a:prstGeom prst="roundRect">
            <a:avLst>
              <a:gd name="adj" fmla="val 35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EE48CD3-716C-CA64-6E51-F2AF07C81DD8}"/>
              </a:ext>
            </a:extLst>
          </p:cNvPr>
          <p:cNvSpPr txBox="1"/>
          <p:nvPr/>
        </p:nvSpPr>
        <p:spPr>
          <a:xfrm>
            <a:off x="481953" y="2331706"/>
            <a:ext cx="457944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Lost in</a:t>
            </a:r>
          </a:p>
          <a:p>
            <a:pPr>
              <a:lnSpc>
                <a:spcPct val="90000"/>
              </a:lnSpc>
            </a:pP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translation</a:t>
            </a:r>
            <a:endParaRPr lang="de-DE" sz="5500" dirty="0">
              <a:solidFill>
                <a:srgbClr val="212121"/>
              </a:solidFill>
              <a:latin typeface="Switzer Medium" pitchFamily="2" charset="77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2538671-481F-0305-C510-099E36769CE7}"/>
              </a:ext>
            </a:extLst>
          </p:cNvPr>
          <p:cNvSpPr txBox="1"/>
          <p:nvPr/>
        </p:nvSpPr>
        <p:spPr>
          <a:xfrm>
            <a:off x="481953" y="4208774"/>
            <a:ext cx="7485030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2200" dirty="0" err="1">
                <a:solidFill>
                  <a:srgbClr val="212121"/>
                </a:solidFill>
                <a:latin typeface="Switzer" pitchFamily="2" charset="77"/>
              </a:rPr>
              <a:t>From</a:t>
            </a:r>
            <a:r>
              <a:rPr lang="de-DE" sz="2200" dirty="0">
                <a:solidFill>
                  <a:srgbClr val="212121"/>
                </a:solidFill>
                <a:latin typeface="Switzer" pitchFamily="2" charset="77"/>
              </a:rPr>
              <a:t> </a:t>
            </a:r>
            <a:r>
              <a:rPr lang="de-DE" sz="2200" dirty="0" err="1">
                <a:solidFill>
                  <a:srgbClr val="212121"/>
                </a:solidFill>
                <a:latin typeface="Switzer" pitchFamily="2" charset="77"/>
              </a:rPr>
              <a:t>requirement</a:t>
            </a:r>
            <a:r>
              <a:rPr lang="de-DE" sz="2200" dirty="0">
                <a:solidFill>
                  <a:srgbClr val="212121"/>
                </a:solidFill>
                <a:latin typeface="Switzer" pitchFamily="2" charset="77"/>
              </a:rPr>
              <a:t> </a:t>
            </a:r>
            <a:r>
              <a:rPr lang="de-DE" sz="2200" dirty="0" err="1">
                <a:solidFill>
                  <a:srgbClr val="212121"/>
                </a:solidFill>
                <a:latin typeface="Switzer" pitchFamily="2" charset="77"/>
              </a:rPr>
              <a:t>to</a:t>
            </a:r>
            <a:r>
              <a:rPr lang="de-DE" sz="2200" dirty="0">
                <a:solidFill>
                  <a:srgbClr val="212121"/>
                </a:solidFill>
                <a:latin typeface="Switzer" pitchFamily="2" charset="77"/>
              </a:rPr>
              <a:t> feature.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7387770-B578-2B96-0880-92E5866FD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81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3B2FF-EBCA-470D-E9B6-46EC41DD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AFE19262-ACBD-F28B-3F22-8D1B6B0440FD}"/>
              </a:ext>
            </a:extLst>
          </p:cNvPr>
          <p:cNvSpPr/>
          <p:nvPr/>
        </p:nvSpPr>
        <p:spPr>
          <a:xfrm>
            <a:off x="176463" y="180473"/>
            <a:ext cx="11839073" cy="6497053"/>
          </a:xfrm>
          <a:prstGeom prst="roundRect">
            <a:avLst>
              <a:gd name="adj" fmla="val 35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C130ACD-AAC0-08AE-E078-F280A2D247CD}"/>
              </a:ext>
            </a:extLst>
          </p:cNvPr>
          <p:cNvSpPr txBox="1"/>
          <p:nvPr/>
        </p:nvSpPr>
        <p:spPr>
          <a:xfrm>
            <a:off x="481953" y="2331706"/>
            <a:ext cx="457944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Lost in</a:t>
            </a:r>
          </a:p>
          <a:p>
            <a:pPr>
              <a:lnSpc>
                <a:spcPct val="90000"/>
              </a:lnSpc>
            </a:pP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translation</a:t>
            </a:r>
            <a:endParaRPr lang="de-DE" sz="5500" dirty="0">
              <a:solidFill>
                <a:srgbClr val="212121"/>
              </a:solidFill>
              <a:latin typeface="Switzer Medium" pitchFamily="2" charset="77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591AF1B-32E6-B86B-55F8-D873D3F545B0}"/>
              </a:ext>
            </a:extLst>
          </p:cNvPr>
          <p:cNvSpPr txBox="1"/>
          <p:nvPr/>
        </p:nvSpPr>
        <p:spPr>
          <a:xfrm>
            <a:off x="481953" y="4208774"/>
            <a:ext cx="7485030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2200" dirty="0" err="1">
                <a:solidFill>
                  <a:srgbClr val="212121"/>
                </a:solidFill>
                <a:latin typeface="Switzer" pitchFamily="2" charset="77"/>
              </a:rPr>
              <a:t>From</a:t>
            </a:r>
            <a:r>
              <a:rPr lang="de-DE" sz="2200" dirty="0">
                <a:solidFill>
                  <a:srgbClr val="212121"/>
                </a:solidFill>
                <a:latin typeface="Switzer" pitchFamily="2" charset="77"/>
              </a:rPr>
              <a:t> </a:t>
            </a:r>
            <a:r>
              <a:rPr lang="de-DE" sz="2200" dirty="0" err="1">
                <a:solidFill>
                  <a:srgbClr val="212121"/>
                </a:solidFill>
                <a:latin typeface="Switzer" pitchFamily="2" charset="77"/>
              </a:rPr>
              <a:t>requirement</a:t>
            </a:r>
            <a:r>
              <a:rPr lang="de-DE" sz="2200" dirty="0">
                <a:solidFill>
                  <a:srgbClr val="212121"/>
                </a:solidFill>
                <a:latin typeface="Switzer" pitchFamily="2" charset="77"/>
              </a:rPr>
              <a:t> </a:t>
            </a:r>
            <a:r>
              <a:rPr lang="de-DE" sz="2200" dirty="0" err="1">
                <a:solidFill>
                  <a:srgbClr val="212121"/>
                </a:solidFill>
                <a:latin typeface="Switzer" pitchFamily="2" charset="77"/>
              </a:rPr>
              <a:t>to</a:t>
            </a:r>
            <a:r>
              <a:rPr lang="de-DE" sz="2200" dirty="0">
                <a:solidFill>
                  <a:srgbClr val="212121"/>
                </a:solidFill>
                <a:latin typeface="Switzer" pitchFamily="2" charset="77"/>
              </a:rPr>
              <a:t> feature.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BA0736AA-1258-B6C0-8330-BF60233BB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1A00032-1A73-6F2D-1E3C-CBD74886A0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7" t="11338" r="51718" b="11081"/>
          <a:stretch>
            <a:fillRect/>
          </a:stretch>
        </p:blipFill>
        <p:spPr>
          <a:xfrm>
            <a:off x="6095999" y="1834661"/>
            <a:ext cx="2379785" cy="318867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C544441-03F6-C3D7-7961-12BAF39B50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264" t="11210" r="5458" b="11210"/>
          <a:stretch>
            <a:fillRect/>
          </a:stretch>
        </p:blipFill>
        <p:spPr>
          <a:xfrm>
            <a:off x="9217201" y="1834661"/>
            <a:ext cx="2492846" cy="318867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88AF4B95-DC6E-474F-CDCD-32E7C637B5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5062" y="2917568"/>
            <a:ext cx="1038359" cy="103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9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3B2FF-EBCA-470D-E9B6-46EC41DD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93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830DD-B476-9CB8-2B50-2D076AA6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31D314B-3C4D-E788-6780-E6B731080BCC}"/>
              </a:ext>
            </a:extLst>
          </p:cNvPr>
          <p:cNvSpPr txBox="1"/>
          <p:nvPr/>
        </p:nvSpPr>
        <p:spPr>
          <a:xfrm>
            <a:off x="481953" y="800278"/>
            <a:ext cx="7485030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Two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teams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.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One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goal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Zero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shared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language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B4C86E7-F0B2-5BF7-C994-218B0AC7B12F}"/>
              </a:ext>
            </a:extLst>
          </p:cNvPr>
          <p:cNvSpPr txBox="1"/>
          <p:nvPr/>
        </p:nvSpPr>
        <p:spPr>
          <a:xfrm>
            <a:off x="481953" y="407371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chemeClr val="bg1">
                    <a:alpha val="80000"/>
                  </a:scheme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chemeClr val="bg1">
                    <a:alpha val="80000"/>
                  </a:schemeClr>
                </a:solidFill>
                <a:latin typeface="Switzer Light" pitchFamily="2" charset="77"/>
              </a:rPr>
              <a:t>problem</a:t>
            </a:r>
            <a:endParaRPr lang="de-DE" sz="1500" dirty="0">
              <a:solidFill>
                <a:schemeClr val="bg1">
                  <a:alpha val="80000"/>
                </a:schemeClr>
              </a:solidFill>
              <a:latin typeface="Switzer Light" pitchFamily="2" charset="77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1BC2043-40A2-E630-4DA6-8DCB1808C43F}"/>
              </a:ext>
            </a:extLst>
          </p:cNvPr>
          <p:cNvSpPr txBox="1"/>
          <p:nvPr/>
        </p:nvSpPr>
        <p:spPr>
          <a:xfrm>
            <a:off x="481953" y="1990029"/>
            <a:ext cx="7485030" cy="3798348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Translation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information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loss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800100" lvl="1" indent="-342900">
              <a:lnSpc>
                <a:spcPct val="150000"/>
              </a:lnSpc>
              <a:buFont typeface="Symbol" pitchFamily="2" charset="2"/>
              <a:buChar char="-"/>
            </a:pP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Too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many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meetings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800100" lvl="1" indent="-342900">
              <a:lnSpc>
                <a:spcPct val="150000"/>
              </a:lnSpc>
              <a:buFont typeface="Symbol" pitchFamily="2" charset="2"/>
              <a:buChar char="-"/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Briefings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lacking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clarity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800100" lvl="1" indent="-342900">
              <a:lnSpc>
                <a:spcPct val="150000"/>
              </a:lnSpc>
              <a:buFont typeface="Symbol" pitchFamily="2" charset="2"/>
              <a:buChar char="-"/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Micro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requests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Undocumented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knowledge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Scattered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context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>
              <a:lnSpc>
                <a:spcPct val="200000"/>
              </a:lnSpc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	</a:t>
            </a:r>
            <a:r>
              <a:rPr lang="de-DE" sz="2250" i="1" dirty="0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All </a:t>
            </a:r>
            <a:r>
              <a:rPr lang="de-DE" sz="2250" i="1" dirty="0" err="1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costing</a:t>
            </a:r>
            <a:r>
              <a:rPr lang="de-DE" sz="2250" i="1" dirty="0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 time, </a:t>
            </a:r>
            <a:r>
              <a:rPr lang="de-DE" sz="2250" i="1" dirty="0" err="1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energy</a:t>
            </a:r>
            <a:r>
              <a:rPr lang="de-DE" sz="2250" i="1" dirty="0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 and </a:t>
            </a:r>
            <a:r>
              <a:rPr lang="de-DE" sz="2250" i="1" dirty="0" err="1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money</a:t>
            </a:r>
            <a:r>
              <a:rPr lang="de-DE" sz="2250" i="1" dirty="0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D2EC23F-1703-0708-F338-EDC9A28DB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881" y="5361777"/>
            <a:ext cx="386281" cy="38628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7919946-0EEF-74D5-BE5D-603485D80FA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5057" t="11338" r="51718" b="11081"/>
          <a:stretch>
            <a:fillRect/>
          </a:stretch>
        </p:blipFill>
        <p:spPr>
          <a:xfrm>
            <a:off x="6757809" y="2108199"/>
            <a:ext cx="2120187" cy="284084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7E54484-220D-4059-988C-4ED970569D6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49264" t="11210" r="5458" b="11210"/>
          <a:stretch>
            <a:fillRect/>
          </a:stretch>
        </p:blipFill>
        <p:spPr>
          <a:xfrm>
            <a:off x="9489132" y="2108199"/>
            <a:ext cx="2220915" cy="284084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9A45153-3C00-A613-289D-A4AE043E5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43278" y="3086100"/>
            <a:ext cx="885068" cy="8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44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9D137-3841-8CB1-B825-005C2243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25F8CED9-9CE5-C8AA-5F3C-AF732C95B31F}"/>
              </a:ext>
            </a:extLst>
          </p:cNvPr>
          <p:cNvSpPr/>
          <p:nvPr/>
        </p:nvSpPr>
        <p:spPr>
          <a:xfrm>
            <a:off x="176463" y="180473"/>
            <a:ext cx="11839073" cy="6497053"/>
          </a:xfrm>
          <a:prstGeom prst="roundRect">
            <a:avLst>
              <a:gd name="adj" fmla="val 351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EC782C-2A15-8900-4CEA-8EC4E729C47E}"/>
              </a:ext>
            </a:extLst>
          </p:cNvPr>
          <p:cNvSpPr txBox="1"/>
          <p:nvPr/>
        </p:nvSpPr>
        <p:spPr>
          <a:xfrm>
            <a:off x="481953" y="800278"/>
            <a:ext cx="7485030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Two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teams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.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One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goal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Zero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shared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 </a:t>
            </a:r>
            <a:r>
              <a:rPr lang="de-DE" sz="2800" dirty="0" err="1">
                <a:solidFill>
                  <a:schemeClr val="bg1"/>
                </a:solidFill>
                <a:latin typeface="Switzer Medium" pitchFamily="2" charset="77"/>
              </a:rPr>
              <a:t>language</a:t>
            </a:r>
            <a:r>
              <a:rPr lang="de-DE" sz="2800" dirty="0">
                <a:solidFill>
                  <a:schemeClr val="bg1"/>
                </a:solidFill>
                <a:latin typeface="Switzer Medium" pitchFamily="2" charset="77"/>
              </a:rPr>
              <a:t>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3DEA3A5-C25E-3AA0-6883-C5D55D4AA344}"/>
              </a:ext>
            </a:extLst>
          </p:cNvPr>
          <p:cNvSpPr txBox="1"/>
          <p:nvPr/>
        </p:nvSpPr>
        <p:spPr>
          <a:xfrm>
            <a:off x="481953" y="407371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chemeClr val="bg1">
                    <a:alpha val="80000"/>
                  </a:scheme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chemeClr val="bg1">
                    <a:alpha val="80000"/>
                  </a:schemeClr>
                </a:solidFill>
                <a:latin typeface="Switzer Light" pitchFamily="2" charset="77"/>
              </a:rPr>
              <a:t>problem</a:t>
            </a:r>
            <a:endParaRPr lang="de-DE" sz="1500" dirty="0">
              <a:solidFill>
                <a:schemeClr val="bg1">
                  <a:alpha val="80000"/>
                </a:schemeClr>
              </a:solidFill>
              <a:latin typeface="Switzer Light" pitchFamily="2" charset="77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08F837D-74A1-1027-64F5-DD63D4F21943}"/>
              </a:ext>
            </a:extLst>
          </p:cNvPr>
          <p:cNvSpPr txBox="1"/>
          <p:nvPr/>
        </p:nvSpPr>
        <p:spPr>
          <a:xfrm>
            <a:off x="481953" y="1990029"/>
            <a:ext cx="7485030" cy="3798348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Translation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information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loss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800100" lvl="1" indent="-342900">
              <a:lnSpc>
                <a:spcPct val="150000"/>
              </a:lnSpc>
              <a:buFont typeface="Symbol" pitchFamily="2" charset="2"/>
              <a:buChar char="-"/>
            </a:pP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Too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many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meetings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800100" lvl="1" indent="-342900">
              <a:lnSpc>
                <a:spcPct val="150000"/>
              </a:lnSpc>
              <a:buFont typeface="Symbol" pitchFamily="2" charset="2"/>
              <a:buChar char="-"/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Briefings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lacking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clarity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800100" lvl="1" indent="-342900">
              <a:lnSpc>
                <a:spcPct val="150000"/>
              </a:lnSpc>
              <a:buFont typeface="Symbol" pitchFamily="2" charset="2"/>
              <a:buChar char="-"/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Micro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requests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Undocumented</a:t>
            </a: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knowledge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Scattered </a:t>
            </a:r>
            <a:r>
              <a:rPr lang="de-DE" sz="2250" dirty="0" err="1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context</a:t>
            </a:r>
            <a:endParaRPr lang="de-DE" sz="2250" dirty="0">
              <a:solidFill>
                <a:schemeClr val="bg1">
                  <a:alpha val="70000"/>
                </a:schemeClr>
              </a:solidFill>
              <a:latin typeface="Switzer" pitchFamily="2" charset="77"/>
            </a:endParaRPr>
          </a:p>
          <a:p>
            <a:pPr>
              <a:lnSpc>
                <a:spcPct val="200000"/>
              </a:lnSpc>
            </a:pPr>
            <a:r>
              <a:rPr lang="de-DE" sz="2250" dirty="0">
                <a:solidFill>
                  <a:schemeClr val="bg1">
                    <a:alpha val="70000"/>
                  </a:schemeClr>
                </a:solidFill>
                <a:latin typeface="Switzer" pitchFamily="2" charset="77"/>
              </a:rPr>
              <a:t>	</a:t>
            </a:r>
            <a:r>
              <a:rPr lang="de-DE" sz="2250" i="1" dirty="0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All </a:t>
            </a:r>
            <a:r>
              <a:rPr lang="de-DE" sz="2250" i="1" dirty="0" err="1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costing</a:t>
            </a:r>
            <a:r>
              <a:rPr lang="de-DE" sz="2250" i="1" dirty="0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 time, </a:t>
            </a:r>
            <a:r>
              <a:rPr lang="de-DE" sz="2250" i="1" dirty="0" err="1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energy</a:t>
            </a:r>
            <a:r>
              <a:rPr lang="de-DE" sz="2250" i="1" dirty="0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 and </a:t>
            </a:r>
            <a:r>
              <a:rPr lang="de-DE" sz="2250" i="1" dirty="0" err="1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money</a:t>
            </a:r>
            <a:r>
              <a:rPr lang="de-DE" sz="2250" i="1" dirty="0">
                <a:solidFill>
                  <a:schemeClr val="bg1">
                    <a:alpha val="80000"/>
                  </a:schemeClr>
                </a:solidFill>
                <a:latin typeface="Switzer Medium Italic" pitchFamily="2" charset="77"/>
              </a:rPr>
              <a:t>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41C3990-B827-F20D-86BA-6F7FA1A80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881" y="5361777"/>
            <a:ext cx="386281" cy="38628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8766B1E-039F-9D87-1272-E8DD5487150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5057" t="11338" r="51718" b="11081"/>
          <a:stretch>
            <a:fillRect/>
          </a:stretch>
        </p:blipFill>
        <p:spPr>
          <a:xfrm>
            <a:off x="6757809" y="2108199"/>
            <a:ext cx="2120187" cy="284084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B866E0E-E09D-B529-5747-6794185C1DA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49264" t="11210" r="5458" b="11210"/>
          <a:stretch>
            <a:fillRect/>
          </a:stretch>
        </p:blipFill>
        <p:spPr>
          <a:xfrm>
            <a:off x="9489132" y="2108199"/>
            <a:ext cx="2220915" cy="284084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D9F8E20-3234-E475-2DC3-69A2FE1994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43278" y="3086100"/>
            <a:ext cx="885068" cy="8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1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200B7-F789-CE48-FAA8-1FB98D96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15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BE0F8-C73B-A3EE-7D59-C7ACEFA5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2A81DC2-5363-5508-F6AC-62600F7AC712}"/>
              </a:ext>
            </a:extLst>
          </p:cNvPr>
          <p:cNvSpPr txBox="1"/>
          <p:nvPr/>
        </p:nvSpPr>
        <p:spPr>
          <a:xfrm>
            <a:off x="481953" y="800278"/>
            <a:ext cx="748503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2800" dirty="0">
                <a:solidFill>
                  <a:srgbClr val="212121"/>
                </a:solidFill>
                <a:latin typeface="Switzer Medium" pitchFamily="2" charset="77"/>
              </a:rPr>
              <a:t>The </a:t>
            </a:r>
            <a:r>
              <a:rPr lang="de-DE" sz="2800" dirty="0" err="1">
                <a:solidFill>
                  <a:srgbClr val="212121"/>
                </a:solidFill>
                <a:latin typeface="Switzer Medium" pitchFamily="2" charset="77"/>
              </a:rPr>
              <a:t>idea</a:t>
            </a:r>
            <a:endParaRPr lang="de-DE" sz="2800" dirty="0">
              <a:solidFill>
                <a:srgbClr val="212121"/>
              </a:solidFill>
              <a:latin typeface="Switzer Medium" pitchFamily="2" charset="77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93CEF5F-A9EA-7075-076C-9BDB946178AE}"/>
              </a:ext>
            </a:extLst>
          </p:cNvPr>
          <p:cNvSpPr txBox="1"/>
          <p:nvPr/>
        </p:nvSpPr>
        <p:spPr>
          <a:xfrm>
            <a:off x="481953" y="407371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solution</a:t>
            </a:r>
            <a:endParaRPr lang="de-DE" sz="1500" dirty="0">
              <a:solidFill>
                <a:srgbClr val="212121">
                  <a:alpha val="80000"/>
                </a:srgbClr>
              </a:solidFill>
              <a:latin typeface="Switzer Light" pitchFamily="2" charset="77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241E31-D4A9-890D-5708-51030755B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8E4410B-4372-4E69-84BB-259A7E570E6F}"/>
              </a:ext>
            </a:extLst>
          </p:cNvPr>
          <p:cNvSpPr txBox="1"/>
          <p:nvPr/>
        </p:nvSpPr>
        <p:spPr>
          <a:xfrm>
            <a:off x="481953" y="2633493"/>
            <a:ext cx="11228094" cy="15910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Simple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chat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interface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enabling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better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requirement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documentation</a:t>
            </a:r>
            <a:endParaRPr lang="de-DE" sz="2250" dirty="0">
              <a:solidFill>
                <a:srgbClr val="212121">
                  <a:alpha val="70000"/>
                </a:srgbClr>
              </a:solidFill>
              <a:latin typeface="Switzer" pitchFamily="2" charset="7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Human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first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, AI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bridging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the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communication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gap</a:t>
            </a:r>
            <a:endParaRPr lang="de-DE" sz="2250" dirty="0">
              <a:solidFill>
                <a:srgbClr val="212121">
                  <a:alpha val="70000"/>
                </a:srgbClr>
              </a:solidFill>
              <a:latin typeface="Switzer" pitchFamily="2" charset="7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Output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for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the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developers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describing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implications</a:t>
            </a:r>
            <a:r>
              <a:rPr lang="de-DE" sz="2250" dirty="0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 on </a:t>
            </a:r>
            <a:r>
              <a:rPr lang="de-DE" sz="2250" dirty="0" err="1">
                <a:solidFill>
                  <a:srgbClr val="212121">
                    <a:alpha val="70000"/>
                  </a:srgbClr>
                </a:solidFill>
                <a:latin typeface="Switzer" pitchFamily="2" charset="77"/>
              </a:rPr>
              <a:t>codebase</a:t>
            </a:r>
            <a:endParaRPr lang="de-DE" sz="2250" dirty="0">
              <a:solidFill>
                <a:srgbClr val="212121">
                  <a:alpha val="70000"/>
                </a:srgbClr>
              </a:solidFill>
              <a:latin typeface="Switze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5956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200B7-F789-CE48-FAA8-1FB98D96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8B3C276F-7944-134B-E5E7-43E2243B100C}"/>
              </a:ext>
            </a:extLst>
          </p:cNvPr>
          <p:cNvSpPr txBox="1"/>
          <p:nvPr/>
        </p:nvSpPr>
        <p:spPr>
          <a:xfrm>
            <a:off x="481953" y="5865568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solution</a:t>
            </a:r>
            <a:endParaRPr lang="de-DE" sz="1500" dirty="0">
              <a:solidFill>
                <a:srgbClr val="212121">
                  <a:alpha val="80000"/>
                </a:srgbClr>
              </a:solidFill>
              <a:latin typeface="Switzer Light" pitchFamily="2" charset="77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7536C9D-3BA7-97E6-918E-381513833406}"/>
              </a:ext>
            </a:extLst>
          </p:cNvPr>
          <p:cNvSpPr txBox="1"/>
          <p:nvPr/>
        </p:nvSpPr>
        <p:spPr>
          <a:xfrm>
            <a:off x="481953" y="4109386"/>
            <a:ext cx="7485030" cy="16158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One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shared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layer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for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business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and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tech</a:t>
            </a:r>
            <a:endParaRPr lang="de-DE" sz="5500" dirty="0">
              <a:solidFill>
                <a:srgbClr val="212121"/>
              </a:solidFill>
              <a:latin typeface="Switzer Medium" pitchFamily="2" charset="77"/>
            </a:endParaRP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52A9D28F-8FC3-0B34-2915-CD7266B4498E}"/>
              </a:ext>
            </a:extLst>
          </p:cNvPr>
          <p:cNvSpPr/>
          <p:nvPr/>
        </p:nvSpPr>
        <p:spPr>
          <a:xfrm>
            <a:off x="-2103588" y="692350"/>
            <a:ext cx="11722473" cy="832608"/>
          </a:xfrm>
          <a:prstGeom prst="roundRect">
            <a:avLst>
              <a:gd name="adj" fmla="val 16956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01477C63-D7B7-8476-88D9-22BC826EDE8C}"/>
              </a:ext>
            </a:extLst>
          </p:cNvPr>
          <p:cNvSpPr/>
          <p:nvPr/>
        </p:nvSpPr>
        <p:spPr>
          <a:xfrm>
            <a:off x="2573115" y="692350"/>
            <a:ext cx="11722473" cy="832608"/>
          </a:xfrm>
          <a:prstGeom prst="roundRect">
            <a:avLst>
              <a:gd name="adj" fmla="val 16956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7ED98B6-FE87-5EE0-F58D-F212773FA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78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4AB5A-ACDB-7781-D162-68FA6CCC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86D8638A-E1AF-0918-10A1-592ACD091DF1}"/>
              </a:ext>
            </a:extLst>
          </p:cNvPr>
          <p:cNvSpPr/>
          <p:nvPr/>
        </p:nvSpPr>
        <p:spPr>
          <a:xfrm>
            <a:off x="2573115" y="692350"/>
            <a:ext cx="11722473" cy="832608"/>
          </a:xfrm>
          <a:prstGeom prst="roundRect">
            <a:avLst>
              <a:gd name="adj" fmla="val 16956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FCAE2D1-DE89-5A1D-6FEC-C743C4E070A7}"/>
              </a:ext>
            </a:extLst>
          </p:cNvPr>
          <p:cNvSpPr txBox="1"/>
          <p:nvPr/>
        </p:nvSpPr>
        <p:spPr>
          <a:xfrm>
            <a:off x="481953" y="5865568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solution</a:t>
            </a:r>
            <a:endParaRPr lang="de-DE" sz="1500" dirty="0">
              <a:solidFill>
                <a:srgbClr val="212121">
                  <a:alpha val="80000"/>
                </a:srgbClr>
              </a:solidFill>
              <a:latin typeface="Switzer Light" pitchFamily="2" charset="77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F7DE8F9-92F8-F18E-9EB0-A615F97C766B}"/>
              </a:ext>
            </a:extLst>
          </p:cNvPr>
          <p:cNvSpPr txBox="1"/>
          <p:nvPr/>
        </p:nvSpPr>
        <p:spPr>
          <a:xfrm>
            <a:off x="481953" y="4109386"/>
            <a:ext cx="7485030" cy="16158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One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shared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layer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for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business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and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tech</a:t>
            </a:r>
            <a:endParaRPr lang="de-DE" sz="5500" dirty="0">
              <a:solidFill>
                <a:srgbClr val="212121">
                  <a:alpha val="60000"/>
                </a:srgbClr>
              </a:solidFill>
              <a:latin typeface="Switzer Medium" pitchFamily="2" charset="77"/>
            </a:endParaRP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8C3D28F8-CCEE-64A6-A02A-6077D6245542}"/>
              </a:ext>
            </a:extLst>
          </p:cNvPr>
          <p:cNvSpPr/>
          <p:nvPr/>
        </p:nvSpPr>
        <p:spPr>
          <a:xfrm>
            <a:off x="-2103588" y="692350"/>
            <a:ext cx="11722473" cy="832608"/>
          </a:xfrm>
          <a:prstGeom prst="roundRect">
            <a:avLst>
              <a:gd name="adj" fmla="val 16956"/>
            </a:avLst>
          </a:prstGeom>
          <a:solidFill>
            <a:srgbClr val="328ECB">
              <a:alpha val="5021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D494F50-4B1B-4C87-3312-BA2EB1ADB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73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200B7-F789-CE48-FAA8-1FB98D96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7536C9D-3BA7-97E6-918E-381513833406}"/>
              </a:ext>
            </a:extLst>
          </p:cNvPr>
          <p:cNvSpPr txBox="1"/>
          <p:nvPr/>
        </p:nvSpPr>
        <p:spPr>
          <a:xfrm>
            <a:off x="2353485" y="3188934"/>
            <a:ext cx="7485030" cy="4801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28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[Business Analyst Demo]</a:t>
            </a:r>
            <a:endParaRPr lang="de-DE" sz="2800" dirty="0">
              <a:solidFill>
                <a:srgbClr val="212121"/>
              </a:solidFill>
              <a:latin typeface="Switzer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58883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09664-E463-7993-E73F-03A95C4D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7E0C2E1-6DE0-ADEE-9AB8-A3568329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53" t="58541" r="42288" b="5206"/>
          <a:stretch>
            <a:fillRect/>
          </a:stretch>
        </p:blipFill>
        <p:spPr>
          <a:xfrm>
            <a:off x="1563460" y="1280409"/>
            <a:ext cx="9065079" cy="493722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2F01CC6-C416-4907-BD1B-26D04209D09A}"/>
              </a:ext>
            </a:extLst>
          </p:cNvPr>
          <p:cNvSpPr txBox="1"/>
          <p:nvPr/>
        </p:nvSpPr>
        <p:spPr>
          <a:xfrm>
            <a:off x="481953" y="800278"/>
            <a:ext cx="748503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2800" dirty="0">
                <a:solidFill>
                  <a:srgbClr val="212121"/>
                </a:solidFill>
                <a:latin typeface="Switzer Medium" pitchFamily="2" charset="77"/>
              </a:rPr>
              <a:t>System Architecture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156D994-A65B-6D69-F7CD-84C88E106101}"/>
              </a:ext>
            </a:extLst>
          </p:cNvPr>
          <p:cNvSpPr txBox="1"/>
          <p:nvPr/>
        </p:nvSpPr>
        <p:spPr>
          <a:xfrm>
            <a:off x="481953" y="407371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structure</a:t>
            </a:r>
            <a:endParaRPr lang="de-DE" sz="1500" dirty="0">
              <a:solidFill>
                <a:srgbClr val="212121">
                  <a:alpha val="80000"/>
                </a:srgbClr>
              </a:solidFill>
              <a:latin typeface="Switzer Light" pitchFamily="2" charset="77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36B7017-FA8D-EA42-9C4B-1DEF0F812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7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BE0F8-C73B-A3EE-7D59-C7ACEFA5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6F942EB-180B-917B-C18B-AA698835BDBF}"/>
              </a:ext>
            </a:extLst>
          </p:cNvPr>
          <p:cNvSpPr/>
          <p:nvPr/>
        </p:nvSpPr>
        <p:spPr>
          <a:xfrm>
            <a:off x="570858" y="1800190"/>
            <a:ext cx="5220000" cy="1012458"/>
          </a:xfrm>
          <a:prstGeom prst="roundRect">
            <a:avLst>
              <a:gd name="adj" fmla="val 8908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2A81DC2-5363-5508-F6AC-62600F7AC712}"/>
              </a:ext>
            </a:extLst>
          </p:cNvPr>
          <p:cNvSpPr txBox="1"/>
          <p:nvPr/>
        </p:nvSpPr>
        <p:spPr>
          <a:xfrm>
            <a:off x="481953" y="800278"/>
            <a:ext cx="748503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2800" dirty="0">
                <a:solidFill>
                  <a:srgbClr val="212121"/>
                </a:solidFill>
                <a:latin typeface="Switzer Medium" pitchFamily="2" charset="77"/>
              </a:rPr>
              <a:t>Tech Stack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93CEF5F-A9EA-7075-076C-9BDB946178AE}"/>
              </a:ext>
            </a:extLst>
          </p:cNvPr>
          <p:cNvSpPr txBox="1"/>
          <p:nvPr/>
        </p:nvSpPr>
        <p:spPr>
          <a:xfrm>
            <a:off x="481953" y="407371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structure</a:t>
            </a:r>
            <a:endParaRPr lang="de-DE" sz="1500" dirty="0">
              <a:solidFill>
                <a:srgbClr val="212121">
                  <a:alpha val="80000"/>
                </a:srgbClr>
              </a:solidFill>
              <a:latin typeface="Switzer Light" pitchFamily="2" charset="77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241E31-D4A9-890D-5708-51030755B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226C53D9-DBC6-C03A-2D3E-9425D96634A1}"/>
              </a:ext>
            </a:extLst>
          </p:cNvPr>
          <p:cNvGrpSpPr/>
          <p:nvPr/>
        </p:nvGrpSpPr>
        <p:grpSpPr>
          <a:xfrm>
            <a:off x="2289543" y="2094448"/>
            <a:ext cx="1782631" cy="419860"/>
            <a:chOff x="2359602" y="2094448"/>
            <a:chExt cx="1782631" cy="419860"/>
          </a:xfrm>
        </p:grpSpPr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5D668B6-6B98-C9AF-F846-FCE79E06F5E2}"/>
                </a:ext>
              </a:extLst>
            </p:cNvPr>
            <p:cNvSpPr txBox="1"/>
            <p:nvPr/>
          </p:nvSpPr>
          <p:spPr>
            <a:xfrm>
              <a:off x="2944369" y="2110351"/>
              <a:ext cx="1197864" cy="40395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de-DE" sz="2250" dirty="0">
                  <a:solidFill>
                    <a:schemeClr val="tx1">
                      <a:alpha val="90000"/>
                    </a:schemeClr>
                  </a:solidFill>
                  <a:latin typeface="Switzer Medium" pitchFamily="2" charset="77"/>
                </a:rPr>
                <a:t>OpenAI</a:t>
              </a:r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840B14C2-E7B9-3BE6-AE4C-FAA5583F2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59602" y="2094448"/>
              <a:ext cx="403957" cy="403957"/>
            </a:xfrm>
            <a:prstGeom prst="rect">
              <a:avLst/>
            </a:prstGeom>
          </p:spPr>
        </p:pic>
      </p:grp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0ACEF151-6171-5072-8ABB-5F2E8AF7F7F9}"/>
              </a:ext>
            </a:extLst>
          </p:cNvPr>
          <p:cNvSpPr/>
          <p:nvPr/>
        </p:nvSpPr>
        <p:spPr>
          <a:xfrm>
            <a:off x="6490047" y="1800190"/>
            <a:ext cx="5220000" cy="1012458"/>
          </a:xfrm>
          <a:prstGeom prst="roundRect">
            <a:avLst>
              <a:gd name="adj" fmla="val 8908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FDED91CE-05B8-3EA8-BBF2-7DC9808603EC}"/>
              </a:ext>
            </a:extLst>
          </p:cNvPr>
          <p:cNvSpPr/>
          <p:nvPr/>
        </p:nvSpPr>
        <p:spPr>
          <a:xfrm>
            <a:off x="570858" y="3137225"/>
            <a:ext cx="5220000" cy="1012458"/>
          </a:xfrm>
          <a:prstGeom prst="roundRect">
            <a:avLst>
              <a:gd name="adj" fmla="val 8908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8B649623-C856-3066-E65F-2E537AA28F0E}"/>
              </a:ext>
            </a:extLst>
          </p:cNvPr>
          <p:cNvSpPr/>
          <p:nvPr/>
        </p:nvSpPr>
        <p:spPr>
          <a:xfrm>
            <a:off x="6490047" y="3137225"/>
            <a:ext cx="5220000" cy="1012458"/>
          </a:xfrm>
          <a:prstGeom prst="roundRect">
            <a:avLst>
              <a:gd name="adj" fmla="val 8908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AD1AFC29-92FE-867C-3154-4F2DE627C76C}"/>
              </a:ext>
            </a:extLst>
          </p:cNvPr>
          <p:cNvSpPr/>
          <p:nvPr/>
        </p:nvSpPr>
        <p:spPr>
          <a:xfrm>
            <a:off x="570857" y="4474260"/>
            <a:ext cx="5220000" cy="1012458"/>
          </a:xfrm>
          <a:prstGeom prst="roundRect">
            <a:avLst>
              <a:gd name="adj" fmla="val 8908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8111B6F3-8121-777F-AB0D-15EF203913F5}"/>
              </a:ext>
            </a:extLst>
          </p:cNvPr>
          <p:cNvGrpSpPr/>
          <p:nvPr/>
        </p:nvGrpSpPr>
        <p:grpSpPr>
          <a:xfrm>
            <a:off x="2289543" y="3433524"/>
            <a:ext cx="1782631" cy="419860"/>
            <a:chOff x="2289543" y="3433524"/>
            <a:chExt cx="1782631" cy="419860"/>
          </a:xfrm>
        </p:grpSpPr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2C0BEA20-2A5F-D774-FE57-0F20166E4729}"/>
                </a:ext>
              </a:extLst>
            </p:cNvPr>
            <p:cNvSpPr txBox="1"/>
            <p:nvPr/>
          </p:nvSpPr>
          <p:spPr>
            <a:xfrm>
              <a:off x="2874310" y="3449427"/>
              <a:ext cx="1197864" cy="40395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de-DE" sz="2250" dirty="0">
                  <a:solidFill>
                    <a:schemeClr val="tx1">
                      <a:alpha val="90000"/>
                    </a:schemeClr>
                  </a:solidFill>
                  <a:latin typeface="Switzer Medium" pitchFamily="2" charset="77"/>
                </a:rPr>
                <a:t>Python</a:t>
              </a:r>
            </a:p>
          </p:txBody>
        </p:sp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7908FA90-5D3D-0A13-3DCB-BCBCB31AB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2289543" y="3433524"/>
              <a:ext cx="403957" cy="403957"/>
            </a:xfrm>
            <a:prstGeom prst="rect">
              <a:avLst/>
            </a:prstGeom>
          </p:spPr>
        </p:pic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6E76CA42-1726-7223-B2A6-E2586DB24E8C}"/>
              </a:ext>
            </a:extLst>
          </p:cNvPr>
          <p:cNvGrpSpPr/>
          <p:nvPr/>
        </p:nvGrpSpPr>
        <p:grpSpPr>
          <a:xfrm>
            <a:off x="2538392" y="4770559"/>
            <a:ext cx="1284930" cy="419860"/>
            <a:chOff x="2289543" y="4770559"/>
            <a:chExt cx="1284930" cy="419860"/>
          </a:xfrm>
        </p:grpSpPr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23FB1AD6-D3C7-76DF-9A83-9BB40AB8451A}"/>
                </a:ext>
              </a:extLst>
            </p:cNvPr>
            <p:cNvSpPr txBox="1"/>
            <p:nvPr/>
          </p:nvSpPr>
          <p:spPr>
            <a:xfrm>
              <a:off x="2874310" y="4786462"/>
              <a:ext cx="700163" cy="40395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de-DE" sz="2250" dirty="0">
                  <a:solidFill>
                    <a:schemeClr val="tx1">
                      <a:alpha val="90000"/>
                    </a:schemeClr>
                  </a:solidFill>
                  <a:latin typeface="Switzer Medium" pitchFamily="2" charset="77"/>
                </a:rPr>
                <a:t>Jira</a:t>
              </a:r>
            </a:p>
          </p:txBody>
        </p:sp>
        <p:pic>
          <p:nvPicPr>
            <p:cNvPr id="49" name="Grafik 48">
              <a:extLst>
                <a:ext uri="{FF2B5EF4-FFF2-40B4-BE49-F238E27FC236}">
                  <a16:creationId xmlns:a16="http://schemas.microsoft.com/office/drawing/2014/main" id="{889C76B4-5A9D-8116-11E4-B96E4C37E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2289543" y="4770559"/>
              <a:ext cx="403957" cy="403957"/>
            </a:xfrm>
            <a:prstGeom prst="rect">
              <a:avLst/>
            </a:prstGeom>
          </p:spPr>
        </p:pic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FF37E0C9-646C-D568-5D89-A41C24770AFD}"/>
              </a:ext>
            </a:extLst>
          </p:cNvPr>
          <p:cNvGrpSpPr/>
          <p:nvPr/>
        </p:nvGrpSpPr>
        <p:grpSpPr>
          <a:xfrm>
            <a:off x="8433831" y="3449427"/>
            <a:ext cx="1332433" cy="403957"/>
            <a:chOff x="8208731" y="3449427"/>
            <a:chExt cx="1332433" cy="403957"/>
          </a:xfrm>
        </p:grpSpPr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4240FEAA-4704-BA87-6726-9188D6ADF8AE}"/>
                </a:ext>
              </a:extLst>
            </p:cNvPr>
            <p:cNvSpPr txBox="1"/>
            <p:nvPr/>
          </p:nvSpPr>
          <p:spPr>
            <a:xfrm>
              <a:off x="8793498" y="3449427"/>
              <a:ext cx="747666" cy="40395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de-DE" sz="2250" dirty="0">
                  <a:solidFill>
                    <a:schemeClr val="tx1">
                      <a:alpha val="90000"/>
                    </a:schemeClr>
                  </a:solidFill>
                  <a:latin typeface="Switzer Medium" pitchFamily="2" charset="77"/>
                </a:rPr>
                <a:t>n8n</a:t>
              </a:r>
            </a:p>
          </p:txBody>
        </p:sp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94F7343D-434A-0ABB-C42B-51DC7914F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8208731" y="3529111"/>
              <a:ext cx="403957" cy="212783"/>
            </a:xfrm>
            <a:prstGeom prst="rect">
              <a:avLst/>
            </a:prstGeom>
          </p:spPr>
        </p:pic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CE248-E286-D595-7EE1-093D1F8471A4}"/>
              </a:ext>
            </a:extLst>
          </p:cNvPr>
          <p:cNvGrpSpPr/>
          <p:nvPr/>
        </p:nvGrpSpPr>
        <p:grpSpPr>
          <a:xfrm>
            <a:off x="8153457" y="2112392"/>
            <a:ext cx="1893180" cy="403957"/>
            <a:chOff x="8208731" y="2112392"/>
            <a:chExt cx="1893180" cy="403957"/>
          </a:xfrm>
        </p:grpSpPr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50797574-303B-F621-EB19-27978D3E86C4}"/>
                </a:ext>
              </a:extLst>
            </p:cNvPr>
            <p:cNvSpPr txBox="1"/>
            <p:nvPr/>
          </p:nvSpPr>
          <p:spPr>
            <a:xfrm>
              <a:off x="8793498" y="2112392"/>
              <a:ext cx="1308413" cy="40395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de-DE" sz="2250" dirty="0" err="1">
                  <a:solidFill>
                    <a:schemeClr val="tx1">
                      <a:alpha val="90000"/>
                    </a:schemeClr>
                  </a:solidFill>
                  <a:latin typeface="Switzer Medium" pitchFamily="2" charset="77"/>
                </a:rPr>
                <a:t>React.js</a:t>
              </a:r>
              <a:endParaRPr lang="de-DE" sz="2250" dirty="0">
                <a:solidFill>
                  <a:schemeClr val="tx1">
                    <a:alpha val="90000"/>
                  </a:schemeClr>
                </a:solidFill>
                <a:latin typeface="Switzer Medium" pitchFamily="2" charset="77"/>
              </a:endParaRPr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32B02325-1403-ED96-EB14-AC505337E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8208731" y="2118791"/>
              <a:ext cx="403957" cy="3593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0562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4AB5A-ACDB-7781-D162-68FA6CCC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86D8638A-E1AF-0918-10A1-592ACD091DF1}"/>
              </a:ext>
            </a:extLst>
          </p:cNvPr>
          <p:cNvSpPr/>
          <p:nvPr/>
        </p:nvSpPr>
        <p:spPr>
          <a:xfrm>
            <a:off x="2573115" y="692350"/>
            <a:ext cx="11722473" cy="832608"/>
          </a:xfrm>
          <a:prstGeom prst="roundRect">
            <a:avLst>
              <a:gd name="adj" fmla="val 16956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FCAE2D1-DE89-5A1D-6FEC-C743C4E070A7}"/>
              </a:ext>
            </a:extLst>
          </p:cNvPr>
          <p:cNvSpPr txBox="1"/>
          <p:nvPr/>
        </p:nvSpPr>
        <p:spPr>
          <a:xfrm>
            <a:off x="481953" y="5865568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solution</a:t>
            </a:r>
            <a:endParaRPr lang="de-DE" sz="1500" dirty="0">
              <a:solidFill>
                <a:srgbClr val="212121">
                  <a:alpha val="80000"/>
                </a:srgbClr>
              </a:solidFill>
              <a:latin typeface="Switzer Light" pitchFamily="2" charset="77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F7DE8F9-92F8-F18E-9EB0-A615F97C766B}"/>
              </a:ext>
            </a:extLst>
          </p:cNvPr>
          <p:cNvSpPr txBox="1"/>
          <p:nvPr/>
        </p:nvSpPr>
        <p:spPr>
          <a:xfrm>
            <a:off x="481953" y="4109386"/>
            <a:ext cx="7485030" cy="16158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One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shared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layer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for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business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and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tech</a:t>
            </a:r>
            <a:endParaRPr lang="de-DE" sz="5500" dirty="0">
              <a:solidFill>
                <a:srgbClr val="212121">
                  <a:alpha val="60000"/>
                </a:srgbClr>
              </a:solidFill>
              <a:latin typeface="Switzer Medium" pitchFamily="2" charset="77"/>
            </a:endParaRP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8C3D28F8-CCEE-64A6-A02A-6077D6245542}"/>
              </a:ext>
            </a:extLst>
          </p:cNvPr>
          <p:cNvSpPr/>
          <p:nvPr/>
        </p:nvSpPr>
        <p:spPr>
          <a:xfrm>
            <a:off x="-2103588" y="692350"/>
            <a:ext cx="11722473" cy="832608"/>
          </a:xfrm>
          <a:prstGeom prst="roundRect">
            <a:avLst>
              <a:gd name="adj" fmla="val 16956"/>
            </a:avLst>
          </a:prstGeom>
          <a:solidFill>
            <a:srgbClr val="328ECB">
              <a:alpha val="5021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926CF03-E8EB-FE60-FBC2-E70655BDF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58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200B7-F789-CE48-FAA8-1FB98D96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8B3C276F-7944-134B-E5E7-43E2243B100C}"/>
              </a:ext>
            </a:extLst>
          </p:cNvPr>
          <p:cNvSpPr txBox="1"/>
          <p:nvPr/>
        </p:nvSpPr>
        <p:spPr>
          <a:xfrm>
            <a:off x="481953" y="5865568"/>
            <a:ext cx="74850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1500" dirty="0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The </a:t>
            </a:r>
            <a:r>
              <a:rPr lang="de-DE" sz="1500" dirty="0" err="1">
                <a:solidFill>
                  <a:srgbClr val="212121">
                    <a:alpha val="80000"/>
                  </a:srgbClr>
                </a:solidFill>
                <a:latin typeface="Switzer Light" pitchFamily="2" charset="77"/>
              </a:rPr>
              <a:t>solution</a:t>
            </a:r>
            <a:endParaRPr lang="de-DE" sz="1500" dirty="0">
              <a:solidFill>
                <a:srgbClr val="212121">
                  <a:alpha val="80000"/>
                </a:srgbClr>
              </a:solidFill>
              <a:latin typeface="Switzer Light" pitchFamily="2" charset="77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7536C9D-3BA7-97E6-918E-381513833406}"/>
              </a:ext>
            </a:extLst>
          </p:cNvPr>
          <p:cNvSpPr txBox="1"/>
          <p:nvPr/>
        </p:nvSpPr>
        <p:spPr>
          <a:xfrm>
            <a:off x="481953" y="4109386"/>
            <a:ext cx="7485030" cy="16158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One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shared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layer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for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business</a:t>
            </a:r>
            <a:r>
              <a:rPr lang="de-DE" sz="55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 and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tech</a:t>
            </a:r>
            <a:endParaRPr lang="de-DE" sz="5500" dirty="0">
              <a:solidFill>
                <a:srgbClr val="212121"/>
              </a:solidFill>
              <a:latin typeface="Switzer Medium" pitchFamily="2" charset="77"/>
            </a:endParaRP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52A9D28F-8FC3-0B34-2915-CD7266B4498E}"/>
              </a:ext>
            </a:extLst>
          </p:cNvPr>
          <p:cNvSpPr/>
          <p:nvPr/>
        </p:nvSpPr>
        <p:spPr>
          <a:xfrm>
            <a:off x="-2103588" y="692350"/>
            <a:ext cx="11722473" cy="832608"/>
          </a:xfrm>
          <a:prstGeom prst="roundRect">
            <a:avLst>
              <a:gd name="adj" fmla="val 16956"/>
            </a:avLst>
          </a:prstGeom>
          <a:solidFill>
            <a:schemeClr val="bg1">
              <a:lumMod val="75000"/>
              <a:alpha val="502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01477C63-D7B7-8476-88D9-22BC826EDE8C}"/>
              </a:ext>
            </a:extLst>
          </p:cNvPr>
          <p:cNvSpPr/>
          <p:nvPr/>
        </p:nvSpPr>
        <p:spPr>
          <a:xfrm>
            <a:off x="2573115" y="692350"/>
            <a:ext cx="11722473" cy="832608"/>
          </a:xfrm>
          <a:prstGeom prst="roundRect">
            <a:avLst>
              <a:gd name="adj" fmla="val 16956"/>
            </a:avLst>
          </a:prstGeom>
          <a:solidFill>
            <a:srgbClr val="328ECB">
              <a:alpha val="5021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D5FA9AD-7095-ED66-55C0-528404095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07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200B7-F789-CE48-FAA8-1FB98D96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7536C9D-3BA7-97E6-918E-381513833406}"/>
              </a:ext>
            </a:extLst>
          </p:cNvPr>
          <p:cNvSpPr txBox="1"/>
          <p:nvPr/>
        </p:nvSpPr>
        <p:spPr>
          <a:xfrm>
            <a:off x="2353485" y="3188934"/>
            <a:ext cx="7485030" cy="4801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2800" dirty="0">
                <a:solidFill>
                  <a:srgbClr val="212121">
                    <a:alpha val="60000"/>
                  </a:srgbClr>
                </a:solidFill>
                <a:latin typeface="Switzer Medium" pitchFamily="2" charset="77"/>
              </a:rPr>
              <a:t>[Developer Demo]</a:t>
            </a:r>
            <a:endParaRPr lang="de-DE" sz="2800" dirty="0">
              <a:solidFill>
                <a:srgbClr val="212121"/>
              </a:solidFill>
              <a:latin typeface="Switzer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464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89F65-EFB7-B001-C325-7A7C1F27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FBC463C0-6B0F-D9DE-4FB5-F3874AC5D3B4}"/>
              </a:ext>
            </a:extLst>
          </p:cNvPr>
          <p:cNvSpPr/>
          <p:nvPr/>
        </p:nvSpPr>
        <p:spPr>
          <a:xfrm>
            <a:off x="176463" y="180473"/>
            <a:ext cx="11839073" cy="6497053"/>
          </a:xfrm>
          <a:prstGeom prst="roundRect">
            <a:avLst>
              <a:gd name="adj" fmla="val 35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85D9BC0-1668-BAB7-8B14-B99410BA1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5890" y="5772399"/>
            <a:ext cx="2424157" cy="39462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492A4D8-7921-BDD2-186A-7E6DA782BF81}"/>
              </a:ext>
            </a:extLst>
          </p:cNvPr>
          <p:cNvSpPr txBox="1"/>
          <p:nvPr/>
        </p:nvSpPr>
        <p:spPr>
          <a:xfrm>
            <a:off x="481952" y="2331706"/>
            <a:ext cx="665336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Thank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you</a:t>
            </a:r>
            <a:endParaRPr lang="de-DE" sz="5500" dirty="0">
              <a:solidFill>
                <a:srgbClr val="212121"/>
              </a:solidFill>
              <a:latin typeface="Switzer Medium" pitchFamily="2" charset="77"/>
            </a:endParaRPr>
          </a:p>
          <a:p>
            <a:pPr>
              <a:lnSpc>
                <a:spcPct val="90000"/>
              </a:lnSpc>
            </a:pP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for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your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 </a:t>
            </a:r>
            <a:r>
              <a:rPr lang="de-DE" sz="5500" dirty="0" err="1">
                <a:solidFill>
                  <a:srgbClr val="212121"/>
                </a:solidFill>
                <a:latin typeface="Switzer Medium" pitchFamily="2" charset="77"/>
              </a:rPr>
              <a:t>attention</a:t>
            </a:r>
            <a:r>
              <a:rPr lang="de-DE" sz="5500" dirty="0">
                <a:solidFill>
                  <a:srgbClr val="212121"/>
                </a:solidFill>
                <a:latin typeface="Switzer Medium" pitchFamily="2" charset="77"/>
              </a:rPr>
              <a:t>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220AE90-ECFA-98DF-DE85-F70853984FF6}"/>
              </a:ext>
            </a:extLst>
          </p:cNvPr>
          <p:cNvSpPr txBox="1"/>
          <p:nvPr/>
        </p:nvSpPr>
        <p:spPr>
          <a:xfrm>
            <a:off x="481953" y="4208774"/>
            <a:ext cx="9831280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noProof="1">
                <a:solidFill>
                  <a:srgbClr val="212121"/>
                </a:solidFill>
                <a:latin typeface="Switzer" pitchFamily="2" charset="77"/>
              </a:rPr>
              <a:t>Because “attention is all you need” (as we learned from Google in 2017).</a:t>
            </a:r>
          </a:p>
        </p:txBody>
      </p:sp>
    </p:spTree>
    <p:extLst>
      <p:ext uri="{BB962C8B-B14F-4D97-AF65-F5344CB8AC3E}">
        <p14:creationId xmlns:p14="http://schemas.microsoft.com/office/powerpoint/2010/main" val="15351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Macintosh PowerPoint</Application>
  <PresentationFormat>Breitbild</PresentationFormat>
  <Paragraphs>55</Paragraphs>
  <Slides>17</Slides>
  <Notes>2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Switzer</vt:lpstr>
      <vt:lpstr>Switzer Light</vt:lpstr>
      <vt:lpstr>Switzer Medium</vt:lpstr>
      <vt:lpstr>Switzer Medium Italic</vt:lpstr>
      <vt:lpstr>Symbol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Wehkamp</dc:creator>
  <cp:lastModifiedBy>Erik Wehkamp</cp:lastModifiedBy>
  <cp:revision>157</cp:revision>
  <dcterms:created xsi:type="dcterms:W3CDTF">2026-04-09T19:54:20Z</dcterms:created>
  <dcterms:modified xsi:type="dcterms:W3CDTF">2026-04-10T02:22:03Z</dcterms:modified>
</cp:coreProperties>
</file>